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6000" b="1">
                <a:solidFill>
                  <a:srgbClr val="D4AF37"/>
                </a:solidFill>
                <a:latin typeface="Arial"/>
              </a:rPr>
              <a:t>Batsman Pro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2400" b="0">
                <a:solidFill>
                  <a:srgbClr val="FFFFFF"/>
                </a:solidFill>
                <a:latin typeface="Arial"/>
              </a:rPr>
              <a:t>Unlock Your Potential With AI-Powered Cricket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4000" b="1">
                <a:solidFill>
                  <a:srgbClr val="FFFFFF"/>
                </a:solidFill>
                <a:latin typeface="Arial"/>
              </a:rPr>
              <a:t>Unlock Your Potential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4000" b="1">
                <a:solidFill>
                  <a:srgbClr val="D4AF37"/>
                </a:solidFill>
                <a:latin typeface="Arial"/>
              </a:rPr>
              <a:t>With Batsman 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800" b="0">
                <a:solidFill>
                  <a:srgbClr val="A0A0A0"/>
                </a:solidFill>
                <a:latin typeface="Arial"/>
              </a:rPr>
              <a:t>The ultimate tool for cricketers. Detect bat-ball contact, generate automatic highlights, and classify shots with professional-grade AI.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114800"/>
            <a:ext cx="1828800" cy="548640"/>
          </a:xfrm>
          <a:prstGeom prst="round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Download APK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4114800"/>
            <a:ext cx="2011680" cy="548640"/>
          </a:xfrm>
          <a:prstGeom prst="roundRect">
            <a:avLst/>
          </a:prstGeom>
          <a:noFill/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D4AF37"/>
                </a:solidFill>
                <a:latin typeface="Arial"/>
              </a:rPr>
              <a:t>Get on Play Store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914400"/>
            <a:ext cx="2743200" cy="5029200"/>
          </a:xfrm>
          <a:prstGeom prst="roundRect">
            <a:avLst/>
          </a:prstGeom>
          <a:solidFill>
            <a:srgbClr val="1E1E1E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/>
            <a:r>
              <a:rPr sz="1400" b="0">
                <a:solidFill>
                  <a:srgbClr val="A0A0A0"/>
                </a:solidFill>
                <a:latin typeface="Arial"/>
              </a:rPr>
              <a:t>[App Screen]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3600" b="1">
                <a:solidFill>
                  <a:srgbClr val="D4AF37"/>
                </a:solidFill>
                <a:latin typeface="Arial"/>
              </a:rPr>
              <a:t>Key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3840480" cy="182880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800" b="1">
                <a:solidFill>
                  <a:srgbClr val="D4AF37"/>
                </a:solidFill>
                <a:latin typeface="Arial"/>
              </a:rPr>
              <a:t>AI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400" b="0">
                <a:solidFill>
                  <a:srgbClr val="A0A0A0"/>
                </a:solidFill>
                <a:latin typeface="Arial"/>
              </a:rPr>
              <a:t>State-of-the-art bat-ball contact detection using YOLO based models.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645920"/>
            <a:ext cx="3840480" cy="182880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0" y="17373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800" b="1">
                <a:solidFill>
                  <a:srgbClr val="D4AF37"/>
                </a:solidFill>
                <a:latin typeface="Arial"/>
              </a:rPr>
              <a:t>Highlight Generation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219456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400" b="0">
                <a:solidFill>
                  <a:srgbClr val="A0A0A0"/>
                </a:solidFill>
                <a:latin typeface="Arial"/>
              </a:rPr>
              <a:t>Automatically condenses hours of footage into the key moments.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931920"/>
            <a:ext cx="3840480" cy="182880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0233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800" b="1">
                <a:solidFill>
                  <a:srgbClr val="D4AF37"/>
                </a:solidFill>
                <a:latin typeface="Arial"/>
              </a:rPr>
              <a:t>Shot Classification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8056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400" b="0">
                <a:solidFill>
                  <a:srgbClr val="A0A0A0"/>
                </a:solidFill>
                <a:latin typeface="Arial"/>
              </a:rPr>
              <a:t>Identifies whether it's a cover drive, pull shot, or defense.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3931920"/>
            <a:ext cx="3840480" cy="182880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40233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800" b="1">
                <a:solidFill>
                  <a:srgbClr val="D4AF37"/>
                </a:solidFill>
                <a:latin typeface="Arial"/>
              </a:rPr>
              <a:t>Secure Processing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448056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400" b="0">
                <a:solidFill>
                  <a:srgbClr val="A0A0A0"/>
                </a:solidFill>
                <a:latin typeface="Arial"/>
              </a:rPr>
              <a:t>Your data is processed securely with enterprise-grade privacy standards.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3600" b="1">
                <a:solidFill>
                  <a:srgbClr val="D4AF37"/>
                </a:solidFill>
                <a:latin typeface="Arial"/>
              </a:rPr>
              <a:t>How It Works</a:t>
            </a:r>
          </a:p>
        </p:txBody>
      </p:sp>
      <p:sp>
        <p:nvSpPr>
          <p:cNvPr id="3" name="Oval 2"/>
          <p:cNvSpPr/>
          <p:nvPr/>
        </p:nvSpPr>
        <p:spPr>
          <a:xfrm>
            <a:off x="1005839" y="1554480"/>
            <a:ext cx="548640" cy="54864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/>
            <a:r>
              <a:rPr sz="1800" b="1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19" y="228600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Upload Video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19" y="274320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200" b="0">
                <a:solidFill>
                  <a:srgbClr val="A0A0A0"/>
                </a:solidFill>
                <a:latin typeface="Arial"/>
              </a:rPr>
              <a:t>Upload your match footage securely.</a:t>
            </a:r>
          </a:p>
        </p:txBody>
      </p:sp>
      <p:sp>
        <p:nvSpPr>
          <p:cNvPr id="6" name="Oval 5"/>
          <p:cNvSpPr/>
          <p:nvPr/>
        </p:nvSpPr>
        <p:spPr>
          <a:xfrm>
            <a:off x="3200400" y="1554480"/>
            <a:ext cx="548640" cy="54864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/>
            <a:r>
              <a:rPr sz="1800" b="1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28600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AI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74320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200" b="0">
                <a:solidFill>
                  <a:srgbClr val="A0A0A0"/>
                </a:solidFill>
                <a:latin typeface="Arial"/>
              </a:rPr>
              <a:t>Our advanced AI detects bat-ball contact.</a:t>
            </a:r>
          </a:p>
        </p:txBody>
      </p:sp>
      <p:sp>
        <p:nvSpPr>
          <p:cNvPr id="9" name="Oval 8"/>
          <p:cNvSpPr/>
          <p:nvPr/>
        </p:nvSpPr>
        <p:spPr>
          <a:xfrm>
            <a:off x="5394960" y="1554480"/>
            <a:ext cx="548640" cy="54864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/>
            <a:r>
              <a:rPr sz="1800" b="1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28600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Highlight Gen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74320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200" b="0">
                <a:solidFill>
                  <a:srgbClr val="A0A0A0"/>
                </a:solidFill>
                <a:latin typeface="Arial"/>
              </a:rPr>
              <a:t>Watch auto-generated highlights instantly.</a:t>
            </a:r>
          </a:p>
        </p:txBody>
      </p:sp>
      <p:sp>
        <p:nvSpPr>
          <p:cNvPr id="12" name="Oval 11"/>
          <p:cNvSpPr/>
          <p:nvPr/>
        </p:nvSpPr>
        <p:spPr>
          <a:xfrm>
            <a:off x="7589520" y="1554480"/>
            <a:ext cx="548640" cy="54864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/>
            <a:r>
              <a:rPr sz="1800" b="1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28600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Shot Analytics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74320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200" b="0">
                <a:solidFill>
                  <a:srgbClr val="A0A0A0"/>
                </a:solidFill>
                <a:latin typeface="Arial"/>
              </a:rPr>
              <a:t>Get deep insights into every shot played.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3600" b="1">
                <a:solidFill>
                  <a:srgbClr val="D4AF37"/>
                </a:solidFill>
                <a:latin typeface="Arial"/>
              </a:rPr>
              <a:t>Technology Stack</a:t>
            </a:r>
          </a:p>
        </p:txBody>
      </p:sp>
      <p:sp>
        <p:nvSpPr>
          <p:cNvPr id="3" name="Oval 2"/>
          <p:cNvSpPr/>
          <p:nvPr/>
        </p:nvSpPr>
        <p:spPr>
          <a:xfrm>
            <a:off x="3657600" y="2377440"/>
            <a:ext cx="137160" cy="13716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31920" y="22860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800" b="0">
                <a:solidFill>
                  <a:srgbClr val="FFFFFF"/>
                </a:solidFill>
                <a:latin typeface="Arial"/>
              </a:rPr>
              <a:t>Flutter</a:t>
            </a:r>
          </a:p>
        </p:txBody>
      </p:sp>
      <p:sp>
        <p:nvSpPr>
          <p:cNvPr id="5" name="Oval 4"/>
          <p:cNvSpPr/>
          <p:nvPr/>
        </p:nvSpPr>
        <p:spPr>
          <a:xfrm>
            <a:off x="3657600" y="2834640"/>
            <a:ext cx="137160" cy="13716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0" y="2743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800" b="0">
                <a:solidFill>
                  <a:srgbClr val="FFFFFF"/>
                </a:solidFill>
                <a:latin typeface="Arial"/>
              </a:rPr>
              <a:t>Python</a:t>
            </a:r>
          </a:p>
        </p:txBody>
      </p:sp>
      <p:sp>
        <p:nvSpPr>
          <p:cNvPr id="7" name="Oval 6"/>
          <p:cNvSpPr/>
          <p:nvPr/>
        </p:nvSpPr>
        <p:spPr>
          <a:xfrm>
            <a:off x="3657600" y="3291840"/>
            <a:ext cx="137160" cy="13716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0" y="32004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800" b="0">
                <a:solidFill>
                  <a:srgbClr val="FFFFFF"/>
                </a:solidFill>
                <a:latin typeface="Arial"/>
              </a:rPr>
              <a:t>PyTorch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3749040"/>
            <a:ext cx="137160" cy="13716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0" y="3657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800" b="0">
                <a:solidFill>
                  <a:srgbClr val="FFFFFF"/>
                </a:solidFill>
                <a:latin typeface="Arial"/>
              </a:rPr>
              <a:t>YOLO</a:t>
            </a:r>
          </a:p>
        </p:txBody>
      </p:sp>
      <p:sp>
        <p:nvSpPr>
          <p:cNvPr id="11" name="Oval 10"/>
          <p:cNvSpPr/>
          <p:nvPr/>
        </p:nvSpPr>
        <p:spPr>
          <a:xfrm>
            <a:off x="3657600" y="4206240"/>
            <a:ext cx="137160" cy="13716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3192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800" b="0">
                <a:solidFill>
                  <a:srgbClr val="FFFFFF"/>
                </a:solidFill>
                <a:latin typeface="Arial"/>
              </a:rPr>
              <a:t>Firebase</a:t>
            </a:r>
          </a:p>
        </p:txBody>
      </p:sp>
      <p:sp>
        <p:nvSpPr>
          <p:cNvPr id="13" name="Oval 12"/>
          <p:cNvSpPr/>
          <p:nvPr/>
        </p:nvSpPr>
        <p:spPr>
          <a:xfrm>
            <a:off x="3657600" y="4663440"/>
            <a:ext cx="137160" cy="13716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0" y="45720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800" b="0">
                <a:solidFill>
                  <a:srgbClr val="FFFFFF"/>
                </a:solidFill>
                <a:latin typeface="Arial"/>
              </a:rPr>
              <a:t>Flask</a:t>
            </a:r>
          </a:p>
        </p:txBody>
      </p:sp>
      <p:sp>
        <p:nvSpPr>
          <p:cNvPr id="15" name="Oval 14"/>
          <p:cNvSpPr/>
          <p:nvPr/>
        </p:nvSpPr>
        <p:spPr>
          <a:xfrm>
            <a:off x="3657600" y="5120640"/>
            <a:ext cx="137160" cy="13716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3192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800" b="0">
                <a:solidFill>
                  <a:srgbClr val="FFFFFF"/>
                </a:solidFill>
                <a:latin typeface="Arial"/>
              </a:rPr>
              <a:t>React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